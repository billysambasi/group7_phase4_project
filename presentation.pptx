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Montserrat"/>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5D352F5-C41A-4A88-AAAC-94466C16C37E}">
  <a:tblStyle styleId="{E5D352F5-C41A-4A88-AAAC-94466C16C37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Montserrat-regular.fntdata"/><Relationship Id="rId25" Type="http://schemas.openxmlformats.org/officeDocument/2006/relationships/slide" Target="slides/slide19.xml"/><Relationship Id="rId28" Type="http://schemas.openxmlformats.org/officeDocument/2006/relationships/font" Target="fonts/Montserrat-italic.fntdata"/><Relationship Id="rId27" Type="http://schemas.openxmlformats.org/officeDocument/2006/relationships/font" Target="fonts/Montserrat-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ontserrat-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6f1695ea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6f1695ea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6f1695eaef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6f1695eaef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6f1695eae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6f1695eae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6f1695eaef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6f1695eaef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6f1695eaef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6f1695eaef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6f1695eaef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6f1695eaef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6f1695eaef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6f1695eaef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6f1695eaef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6f1695eaef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6f1695eaef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6f1695eaef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6f1695eaef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6f1695eaef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6f1695eaef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6f1695eaef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6f1695eaef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6f1695eaef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6f1695eaef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6f1695eaef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6f1695eae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6f1695eae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6f1695eae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6f1695eae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6f1695eae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6f1695eae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6f1695eae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6f1695eae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6f1695eae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6f1695eae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741B47"/>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data.cityofchicago.org/Transportation/Traffic-Crashes-Crashes/85ca-t3if/about_data" TargetMode="External"/><Relationship Id="rId4" Type="http://schemas.openxmlformats.org/officeDocument/2006/relationships/hyperlink" Target="https://data.cityofchicago.org/Transportation/Traffic-Crashes-People/u6pd-qa9d/about_data" TargetMode="External"/><Relationship Id="rId5" Type="http://schemas.openxmlformats.org/officeDocument/2006/relationships/hyperlink" Target="https://data.cityofchicago.org/Transportation/Traffic-Crashes-Vehicles/68nd-jvt3/about_dat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Crash Analysis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56" name="Google Shape;56;p13"/>
          <p:cNvPicPr preferRelativeResize="0"/>
          <p:nvPr/>
        </p:nvPicPr>
        <p:blipFill>
          <a:blip r:embed="rId3">
            <a:alphaModFix/>
          </a:blip>
          <a:stretch>
            <a:fillRect/>
          </a:stretch>
        </p:blipFill>
        <p:spPr>
          <a:xfrm>
            <a:off x="0" y="0"/>
            <a:ext cx="9144001" cy="4978650"/>
          </a:xfrm>
          <a:prstGeom prst="rect">
            <a:avLst/>
          </a:prstGeom>
          <a:noFill/>
          <a:ln>
            <a:noFill/>
          </a:ln>
        </p:spPr>
      </p:pic>
      <p:graphicFrame>
        <p:nvGraphicFramePr>
          <p:cNvPr id="57" name="Google Shape;57;p13"/>
          <p:cNvGraphicFramePr/>
          <p:nvPr/>
        </p:nvGraphicFramePr>
        <p:xfrm>
          <a:off x="0" y="-263200"/>
          <a:ext cx="3000000" cy="3000000"/>
        </p:xfrm>
        <a:graphic>
          <a:graphicData uri="http://schemas.openxmlformats.org/drawingml/2006/table">
            <a:tbl>
              <a:tblPr>
                <a:noFill/>
                <a:tableStyleId>{E5D352F5-C41A-4A88-AAAC-94466C16C37E}</a:tableStyleId>
              </a:tblPr>
              <a:tblGrid>
                <a:gridCol w="1524000"/>
                <a:gridCol w="1524000"/>
                <a:gridCol w="1524000"/>
                <a:gridCol w="1524000"/>
                <a:gridCol w="1524000"/>
                <a:gridCol w="1524000"/>
              </a:tblGrid>
              <a:tr h="1281525">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tcPr>
                </a:tc>
                <a:tc>
                  <a:txBody>
                    <a:bodyPr/>
                    <a:lstStyle/>
                    <a:p>
                      <a:pPr indent="0" lvl="0" marL="0" rtl="0" algn="l">
                        <a:spcBef>
                          <a:spcPts val="0"/>
                        </a:spcBef>
                        <a:spcAft>
                          <a:spcPts val="0"/>
                        </a:spcAft>
                        <a:buNone/>
                      </a:pPr>
                      <a:r>
                        <a:t/>
                      </a:r>
                      <a:endParaRPr sz="2500">
                        <a:latin typeface="Montserrat"/>
                        <a:ea typeface="Montserrat"/>
                        <a:cs typeface="Montserrat"/>
                        <a:sym typeface="Montserrat"/>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solidFill>
                      <a:srgbClr val="4C113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solidFill>
                      <a:srgbClr val="4C1130"/>
                    </a:solidFill>
                  </a:tcPr>
                </a:tc>
              </a:tr>
              <a:tr h="1232375">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tcPr>
                </a:tc>
              </a:tr>
              <a:tr h="1232375">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solidFill>
                      <a:srgbClr val="4C113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solidFill>
                      <a:srgbClr val="4C113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tcPr>
                </a:tc>
              </a:tr>
              <a:tr h="1495575">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solidFill>
                      <a:srgbClr val="4C113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solidFill>
                      <a:srgbClr val="4C113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solidFill>
                      <a:srgbClr val="4C113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C1130"/>
                      </a:solidFill>
                      <a:prstDash val="solid"/>
                      <a:round/>
                      <a:headEnd len="sm" w="sm" type="none"/>
                      <a:tailEnd len="sm" w="sm" type="none"/>
                    </a:lnL>
                    <a:lnR cap="flat" cmpd="sng" w="19050">
                      <a:solidFill>
                        <a:srgbClr val="4C1130"/>
                      </a:solidFill>
                      <a:prstDash val="solid"/>
                      <a:round/>
                      <a:headEnd len="sm" w="sm" type="none"/>
                      <a:tailEnd len="sm" w="sm" type="none"/>
                    </a:lnR>
                    <a:lnT cap="flat" cmpd="sng" w="19050">
                      <a:solidFill>
                        <a:srgbClr val="4C1130"/>
                      </a:solidFill>
                      <a:prstDash val="solid"/>
                      <a:round/>
                      <a:headEnd len="sm" w="sm" type="none"/>
                      <a:tailEnd len="sm" w="sm" type="none"/>
                    </a:lnT>
                    <a:lnB cap="flat" cmpd="sng" w="19050">
                      <a:solidFill>
                        <a:srgbClr val="4C1130"/>
                      </a:solidFill>
                      <a:prstDash val="solid"/>
                      <a:round/>
                      <a:headEnd len="sm" w="sm" type="none"/>
                      <a:tailEnd len="sm" w="sm" type="none"/>
                    </a:lnB>
                  </a:tcPr>
                </a:tc>
              </a:tr>
            </a:tbl>
          </a:graphicData>
        </a:graphic>
      </p:graphicFrame>
      <p:sp>
        <p:nvSpPr>
          <p:cNvPr id="58" name="Google Shape;58;p13"/>
          <p:cNvSpPr txBox="1"/>
          <p:nvPr/>
        </p:nvSpPr>
        <p:spPr>
          <a:xfrm>
            <a:off x="302250" y="2808850"/>
            <a:ext cx="3658200" cy="196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700">
                <a:solidFill>
                  <a:srgbClr val="9E9E9E"/>
                </a:solidFill>
                <a:latin typeface="Montserrat"/>
                <a:ea typeface="Montserrat"/>
                <a:cs typeface="Montserrat"/>
                <a:sym typeface="Montserrat"/>
              </a:rPr>
              <a:t>Crash </a:t>
            </a:r>
            <a:endParaRPr sz="5700">
              <a:solidFill>
                <a:srgbClr val="9E9E9E"/>
              </a:solidFill>
              <a:latin typeface="Montserrat"/>
              <a:ea typeface="Montserrat"/>
              <a:cs typeface="Montserrat"/>
              <a:sym typeface="Montserrat"/>
            </a:endParaRPr>
          </a:p>
          <a:p>
            <a:pPr indent="0" lvl="0" marL="0" rtl="0" algn="l">
              <a:spcBef>
                <a:spcPts val="0"/>
              </a:spcBef>
              <a:spcAft>
                <a:spcPts val="0"/>
              </a:spcAft>
              <a:buNone/>
            </a:pPr>
            <a:r>
              <a:rPr lang="en" sz="5700">
                <a:solidFill>
                  <a:srgbClr val="9E9E9E"/>
                </a:solidFill>
                <a:latin typeface="Montserrat"/>
                <a:ea typeface="Montserrat"/>
                <a:cs typeface="Montserrat"/>
                <a:sym typeface="Montserrat"/>
              </a:rPr>
              <a:t>Analysis</a:t>
            </a:r>
            <a:endParaRPr sz="5700">
              <a:solidFill>
                <a:srgbClr val="9E9E9E"/>
              </a:solidFill>
              <a:latin typeface="Montserrat"/>
              <a:ea typeface="Montserrat"/>
              <a:cs typeface="Montserrat"/>
              <a:sym typeface="Montserrat"/>
            </a:endParaRPr>
          </a:p>
        </p:txBody>
      </p:sp>
      <p:sp>
        <p:nvSpPr>
          <p:cNvPr id="59" name="Google Shape;59;p13"/>
          <p:cNvSpPr txBox="1"/>
          <p:nvPr/>
        </p:nvSpPr>
        <p:spPr>
          <a:xfrm>
            <a:off x="7728275" y="901550"/>
            <a:ext cx="1219500" cy="28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60" name="Google Shape;60;p13"/>
          <p:cNvSpPr txBox="1"/>
          <p:nvPr/>
        </p:nvSpPr>
        <p:spPr>
          <a:xfrm>
            <a:off x="6210925" y="-34975"/>
            <a:ext cx="2736900" cy="93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dk2"/>
                </a:solidFill>
                <a:latin typeface="Montserrat"/>
                <a:ea typeface="Montserrat"/>
                <a:cs typeface="Montserrat"/>
                <a:sym typeface="Montserrat"/>
              </a:rPr>
              <a:t>By Group 7</a:t>
            </a:r>
            <a:endParaRPr sz="3400">
              <a:solidFill>
                <a:schemeClr val="dk2"/>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9E9E9E"/>
                </a:solidFill>
                <a:latin typeface="Montserrat"/>
                <a:ea typeface="Montserrat"/>
                <a:cs typeface="Montserrat"/>
                <a:sym typeface="Montserrat"/>
              </a:rPr>
              <a:t>Business Understanding</a:t>
            </a:r>
            <a:endParaRPr b="1">
              <a:solidFill>
                <a:srgbClr val="9E9E9E"/>
              </a:solidFill>
              <a:latin typeface="Montserrat"/>
              <a:ea typeface="Montserrat"/>
              <a:cs typeface="Montserrat"/>
              <a:sym typeface="Montserrat"/>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6400">
                <a:solidFill>
                  <a:srgbClr val="CCCCCC"/>
                </a:solidFill>
                <a:latin typeface="Montserrat"/>
                <a:ea typeface="Montserrat"/>
                <a:cs typeface="Montserrat"/>
                <a:sym typeface="Montserrat"/>
              </a:rPr>
              <a:t>This project analyses road traffic crash data to help public safety agencies and policymakers enhance road safety by addressing three objectives. These insights will support targeted interventions, efficient resource allocation and data-driven policies to reduce crash frequency and severity.</a:t>
            </a:r>
            <a:endParaRPr sz="6400">
              <a:solidFill>
                <a:srgbClr val="CCCCCC"/>
              </a:solidFill>
              <a:latin typeface="Montserrat"/>
              <a:ea typeface="Montserrat"/>
              <a:cs typeface="Montserrat"/>
              <a:sym typeface="Montserrat"/>
            </a:endParaRPr>
          </a:p>
          <a:p>
            <a:pPr indent="0" lvl="0" marL="0" rtl="0" algn="l">
              <a:lnSpc>
                <a:spcPct val="100000"/>
              </a:lnSpc>
              <a:spcBef>
                <a:spcPts val="2200"/>
              </a:spcBef>
              <a:spcAft>
                <a:spcPts val="0"/>
              </a:spcAft>
              <a:buClr>
                <a:schemeClr val="dk1"/>
              </a:buClr>
              <a:buSzPts val="275"/>
              <a:buFont typeface="Arial"/>
              <a:buNone/>
            </a:pPr>
            <a:r>
              <a:rPr lang="en" sz="6400">
                <a:solidFill>
                  <a:srgbClr val="CCCCCC"/>
                </a:solidFill>
                <a:latin typeface="Montserrat"/>
                <a:ea typeface="Montserrat"/>
                <a:cs typeface="Montserrat"/>
                <a:sym typeface="Montserrat"/>
              </a:rPr>
              <a:t>Business Questions</a:t>
            </a:r>
            <a:endParaRPr sz="6400">
              <a:solidFill>
                <a:srgbClr val="CCCCCC"/>
              </a:solidFill>
              <a:latin typeface="Montserrat"/>
              <a:ea typeface="Montserrat"/>
              <a:cs typeface="Montserrat"/>
              <a:sym typeface="Montserrat"/>
            </a:endParaRPr>
          </a:p>
          <a:p>
            <a:pPr indent="-330200" lvl="0" marL="457200" rtl="0" algn="l">
              <a:spcBef>
                <a:spcPts val="1500"/>
              </a:spcBef>
              <a:spcAft>
                <a:spcPts val="0"/>
              </a:spcAft>
              <a:buClr>
                <a:srgbClr val="CCCCCC"/>
              </a:buClr>
              <a:buSzPct val="100000"/>
              <a:buFont typeface="Montserrat"/>
              <a:buAutoNum type="arabicPeriod"/>
            </a:pPr>
            <a:r>
              <a:rPr lang="en" sz="6400">
                <a:solidFill>
                  <a:srgbClr val="CCCCCC"/>
                </a:solidFill>
                <a:latin typeface="Montserrat"/>
                <a:ea typeface="Montserrat"/>
                <a:cs typeface="Montserrat"/>
                <a:sym typeface="Montserrat"/>
              </a:rPr>
              <a:t>Which factors are most associated with severe or fatal injuries?</a:t>
            </a:r>
            <a:endParaRPr sz="6400">
              <a:solidFill>
                <a:srgbClr val="CCCCCC"/>
              </a:solidFill>
              <a:latin typeface="Montserrat"/>
              <a:ea typeface="Montserrat"/>
              <a:cs typeface="Montserrat"/>
              <a:sym typeface="Montserrat"/>
            </a:endParaRPr>
          </a:p>
          <a:p>
            <a:pPr indent="-330200" lvl="0" marL="457200" rtl="0" algn="l">
              <a:spcBef>
                <a:spcPts val="0"/>
              </a:spcBef>
              <a:spcAft>
                <a:spcPts val="0"/>
              </a:spcAft>
              <a:buClr>
                <a:srgbClr val="CCCCCC"/>
              </a:buClr>
              <a:buSzPct val="100000"/>
              <a:buFont typeface="Montserrat"/>
              <a:buAutoNum type="arabicPeriod"/>
            </a:pPr>
            <a:r>
              <a:rPr lang="en" sz="6400">
                <a:solidFill>
                  <a:srgbClr val="CCCCCC"/>
                </a:solidFill>
                <a:latin typeface="Montserrat"/>
                <a:ea typeface="Montserrat"/>
                <a:cs typeface="Montserrat"/>
                <a:sym typeface="Montserrat"/>
              </a:rPr>
              <a:t>When and where do serious crashes most frequently occur and how do injury patterns vary?</a:t>
            </a:r>
            <a:endParaRPr sz="6400">
              <a:solidFill>
                <a:srgbClr val="CCCCCC"/>
              </a:solidFill>
              <a:latin typeface="Montserrat"/>
              <a:ea typeface="Montserrat"/>
              <a:cs typeface="Montserrat"/>
              <a:sym typeface="Montserrat"/>
            </a:endParaRPr>
          </a:p>
          <a:p>
            <a:pPr indent="-330200" lvl="0" marL="457200" rtl="0" algn="l">
              <a:spcBef>
                <a:spcPts val="0"/>
              </a:spcBef>
              <a:spcAft>
                <a:spcPts val="0"/>
              </a:spcAft>
              <a:buClr>
                <a:srgbClr val="CCCCCC"/>
              </a:buClr>
              <a:buSzPct val="100000"/>
              <a:buFont typeface="Montserrat"/>
              <a:buAutoNum type="arabicPeriod"/>
            </a:pPr>
            <a:r>
              <a:rPr lang="en" sz="6400">
                <a:solidFill>
                  <a:srgbClr val="CCCCCC"/>
                </a:solidFill>
                <a:latin typeface="Montserrat"/>
                <a:ea typeface="Montserrat"/>
                <a:cs typeface="Montserrat"/>
                <a:sym typeface="Montserrat"/>
              </a:rPr>
              <a:t>How do safety measures impact crash frequency and injury severity?</a:t>
            </a:r>
            <a:endParaRPr sz="6400">
              <a:solidFill>
                <a:srgbClr val="CCCCCC"/>
              </a:solidFill>
              <a:latin typeface="Montserrat"/>
              <a:ea typeface="Montserrat"/>
              <a:cs typeface="Montserrat"/>
              <a:sym typeface="Montserrat"/>
            </a:endParaRPr>
          </a:p>
          <a:p>
            <a:pPr indent="0" lvl="0" marL="0" rtl="0" algn="l">
              <a:lnSpc>
                <a:spcPct val="100000"/>
              </a:lnSpc>
              <a:spcBef>
                <a:spcPts val="1800"/>
              </a:spcBef>
              <a:spcAft>
                <a:spcPts val="0"/>
              </a:spcAft>
              <a:buNone/>
            </a:pPr>
            <a:r>
              <a:t/>
            </a:r>
            <a:endParaRPr sz="6400">
              <a:solidFill>
                <a:schemeClr val="dk1"/>
              </a:solidFill>
              <a:highlight>
                <a:srgbClr val="FFFFFF"/>
              </a:highlight>
              <a:latin typeface="Montserrat"/>
              <a:ea typeface="Montserrat"/>
              <a:cs typeface="Montserrat"/>
              <a:sym typeface="Montserrat"/>
            </a:endParaRPr>
          </a:p>
          <a:p>
            <a:pPr indent="0" lvl="0" marL="0" rtl="0" algn="l">
              <a:spcBef>
                <a:spcPts val="1200"/>
              </a:spcBef>
              <a:spcAft>
                <a:spcPts val="1200"/>
              </a:spcAft>
              <a:buNone/>
            </a:pPr>
            <a:r>
              <a:t/>
            </a:r>
            <a:endParaRPr sz="1050">
              <a:solidFill>
                <a:schemeClr val="dk1"/>
              </a:solidFill>
              <a:highlight>
                <a:srgbClr val="FFFFFF"/>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9E9E9E"/>
                </a:solidFill>
                <a:latin typeface="Montserrat"/>
                <a:ea typeface="Montserrat"/>
                <a:cs typeface="Montserrat"/>
                <a:sym typeface="Montserrat"/>
              </a:rPr>
              <a:t>Objectives</a:t>
            </a:r>
            <a:endParaRPr b="1">
              <a:solidFill>
                <a:srgbClr val="9E9E9E"/>
              </a:solidFill>
              <a:latin typeface="Montserrat"/>
              <a:ea typeface="Montserrat"/>
              <a:cs typeface="Montserrat"/>
              <a:sym typeface="Montserrat"/>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9250" lvl="0" marL="457200" rtl="0" algn="l">
              <a:spcBef>
                <a:spcPts val="1100"/>
              </a:spcBef>
              <a:spcAft>
                <a:spcPts val="0"/>
              </a:spcAft>
              <a:buClr>
                <a:srgbClr val="9E9E9E"/>
              </a:buClr>
              <a:buSzPts val="1900"/>
              <a:buFont typeface="Montserrat"/>
              <a:buAutoNum type="arabicPeriod"/>
            </a:pPr>
            <a:r>
              <a:rPr lang="en" sz="1900">
                <a:solidFill>
                  <a:srgbClr val="9E9E9E"/>
                </a:solidFill>
                <a:latin typeface="Montserrat"/>
                <a:ea typeface="Montserrat"/>
                <a:cs typeface="Montserrat"/>
                <a:sym typeface="Montserrat"/>
              </a:rPr>
              <a:t>Identify and analyse key risk factors contributing to crash severity.</a:t>
            </a:r>
            <a:endParaRPr sz="1900">
              <a:solidFill>
                <a:srgbClr val="9E9E9E"/>
              </a:solidFill>
              <a:latin typeface="Montserrat"/>
              <a:ea typeface="Montserrat"/>
              <a:cs typeface="Montserrat"/>
              <a:sym typeface="Montserrat"/>
            </a:endParaRPr>
          </a:p>
          <a:p>
            <a:pPr indent="-349250" lvl="0" marL="457200" rtl="0" algn="l">
              <a:spcBef>
                <a:spcPts val="0"/>
              </a:spcBef>
              <a:spcAft>
                <a:spcPts val="0"/>
              </a:spcAft>
              <a:buClr>
                <a:srgbClr val="9E9E9E"/>
              </a:buClr>
              <a:buSzPts val="1900"/>
              <a:buFont typeface="Montserrat"/>
              <a:buAutoNum type="arabicPeriod"/>
            </a:pPr>
            <a:r>
              <a:rPr lang="en" sz="1900">
                <a:solidFill>
                  <a:srgbClr val="9E9E9E"/>
                </a:solidFill>
                <a:latin typeface="Montserrat"/>
                <a:ea typeface="Montserrat"/>
                <a:cs typeface="Montserrat"/>
                <a:sym typeface="Montserrat"/>
              </a:rPr>
              <a:t>Examine temporal and situational patterns in crash and injury severity.</a:t>
            </a:r>
            <a:endParaRPr sz="1900">
              <a:solidFill>
                <a:srgbClr val="9E9E9E"/>
              </a:solidFill>
              <a:latin typeface="Montserrat"/>
              <a:ea typeface="Montserrat"/>
              <a:cs typeface="Montserrat"/>
              <a:sym typeface="Montserrat"/>
            </a:endParaRPr>
          </a:p>
          <a:p>
            <a:pPr indent="-349250" lvl="0" marL="457200" rtl="0" algn="l">
              <a:spcBef>
                <a:spcPts val="0"/>
              </a:spcBef>
              <a:spcAft>
                <a:spcPts val="0"/>
              </a:spcAft>
              <a:buClr>
                <a:srgbClr val="9E9E9E"/>
              </a:buClr>
              <a:buSzPts val="1900"/>
              <a:buFont typeface="Montserrat"/>
              <a:buAutoNum type="arabicPeriod"/>
            </a:pPr>
            <a:r>
              <a:rPr lang="en" sz="1900">
                <a:solidFill>
                  <a:srgbClr val="9E9E9E"/>
                </a:solidFill>
                <a:latin typeface="Montserrat"/>
                <a:ea typeface="Montserrat"/>
                <a:cs typeface="Montserrat"/>
                <a:sym typeface="Montserrat"/>
              </a:rPr>
              <a:t>Evaluate the impact of preventive measures on crash outcomes.</a:t>
            </a:r>
            <a:endParaRPr sz="1900">
              <a:solidFill>
                <a:srgbClr val="9E9E9E"/>
              </a:solidFill>
              <a:latin typeface="Montserrat"/>
              <a:ea typeface="Montserrat"/>
              <a:cs typeface="Montserrat"/>
              <a:sym typeface="Montserrat"/>
            </a:endParaRPr>
          </a:p>
          <a:p>
            <a:pPr indent="0" lvl="0" marL="0" rtl="0" algn="l">
              <a:lnSpc>
                <a:spcPct val="100000"/>
              </a:lnSpc>
              <a:spcBef>
                <a:spcPts val="1800"/>
              </a:spcBef>
              <a:spcAft>
                <a:spcPts val="1200"/>
              </a:spcAft>
              <a:buNone/>
            </a:pPr>
            <a:r>
              <a:rPr lang="en" sz="1900">
                <a:solidFill>
                  <a:srgbClr val="9E9E9E"/>
                </a:solidFill>
                <a:latin typeface="Montserrat"/>
                <a:ea typeface="Montserrat"/>
                <a:cs typeface="Montserrat"/>
                <a:sym typeface="Montserrat"/>
              </a:rPr>
              <a:t>Modelling Objective: Build and evaluate predictive models to classify or predict injury severity based on available features</a:t>
            </a:r>
            <a:endParaRPr sz="1900">
              <a:solidFill>
                <a:srgbClr val="9E9E9E"/>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2200"/>
              </a:spcBef>
              <a:spcAft>
                <a:spcPts val="1500"/>
              </a:spcAft>
              <a:buClr>
                <a:schemeClr val="dk1"/>
              </a:buClr>
              <a:buSzPts val="1100"/>
              <a:buFont typeface="Arial"/>
              <a:buNone/>
            </a:pPr>
            <a:r>
              <a:rPr b="1" lang="en" sz="2600">
                <a:solidFill>
                  <a:srgbClr val="9E9E9E"/>
                </a:solidFill>
                <a:latin typeface="Montserrat"/>
                <a:ea typeface="Montserrat"/>
                <a:cs typeface="Montserrat"/>
                <a:sym typeface="Montserrat"/>
              </a:rPr>
              <a:t>Data Understanding</a:t>
            </a:r>
            <a:endParaRPr b="1" sz="3600">
              <a:solidFill>
                <a:srgbClr val="9E9E9E"/>
              </a:solidFill>
              <a:latin typeface="Montserrat"/>
              <a:ea typeface="Montserrat"/>
              <a:cs typeface="Montserrat"/>
              <a:sym typeface="Montserrat"/>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rgbClr val="9E9E9E"/>
                </a:solidFill>
                <a:latin typeface="Montserrat"/>
                <a:ea typeface="Montserrat"/>
                <a:cs typeface="Montserrat"/>
                <a:sym typeface="Montserrat"/>
              </a:rPr>
              <a:t>Datasets:</a:t>
            </a:r>
            <a:endParaRPr sz="1600">
              <a:solidFill>
                <a:srgbClr val="9E9E9E"/>
              </a:solidFill>
              <a:latin typeface="Montserrat"/>
              <a:ea typeface="Montserrat"/>
              <a:cs typeface="Montserrat"/>
              <a:sym typeface="Montserrat"/>
            </a:endParaRPr>
          </a:p>
          <a:p>
            <a:pPr indent="-330200" lvl="0" marL="457200" rtl="0" algn="l">
              <a:spcBef>
                <a:spcPts val="1100"/>
              </a:spcBef>
              <a:spcAft>
                <a:spcPts val="0"/>
              </a:spcAft>
              <a:buClr>
                <a:srgbClr val="9E9E9E"/>
              </a:buClr>
              <a:buSzPts val="1600"/>
              <a:buFont typeface="Montserrat"/>
              <a:buChar char="●"/>
            </a:pPr>
            <a:r>
              <a:rPr lang="en" sz="1600">
                <a:solidFill>
                  <a:srgbClr val="9E9E9E"/>
                </a:solidFill>
                <a:uFill>
                  <a:noFill/>
                </a:uFill>
                <a:latin typeface="Montserrat"/>
                <a:ea typeface="Montserrat"/>
                <a:cs typeface="Montserrat"/>
                <a:sym typeface="Montserrat"/>
                <a:hlinkClick r:id="rId3">
                  <a:extLst>
                    <a:ext uri="{A12FA001-AC4F-418D-AE19-62706E023703}">
                      <ahyp:hlinkClr val="tx"/>
                    </a:ext>
                  </a:extLst>
                </a:hlinkClick>
              </a:rPr>
              <a:t>cpd-traffic-crashes</a:t>
            </a:r>
            <a:r>
              <a:rPr lang="en" sz="1600">
                <a:solidFill>
                  <a:srgbClr val="9E9E9E"/>
                </a:solidFill>
                <a:latin typeface="Montserrat"/>
                <a:ea typeface="Montserrat"/>
                <a:cs typeface="Montserrat"/>
                <a:sym typeface="Montserrat"/>
              </a:rPr>
              <a:t> Crash data shows information about each traffic crash on city streets within the City of Chicago limits and under the jurisdiction of Chicago Police Department (CPD).</a:t>
            </a:r>
            <a:endParaRPr sz="1600">
              <a:solidFill>
                <a:srgbClr val="9E9E9E"/>
              </a:solidFill>
              <a:latin typeface="Montserrat"/>
              <a:ea typeface="Montserrat"/>
              <a:cs typeface="Montserrat"/>
              <a:sym typeface="Montserrat"/>
            </a:endParaRPr>
          </a:p>
          <a:p>
            <a:pPr indent="-330200" lvl="0" marL="457200" rtl="0" algn="l">
              <a:spcBef>
                <a:spcPts val="0"/>
              </a:spcBef>
              <a:spcAft>
                <a:spcPts val="0"/>
              </a:spcAft>
              <a:buClr>
                <a:srgbClr val="9E9E9E"/>
              </a:buClr>
              <a:buSzPts val="1600"/>
              <a:buFont typeface="Montserrat"/>
              <a:buChar char="●"/>
            </a:pPr>
            <a:r>
              <a:rPr lang="en" sz="1600">
                <a:solidFill>
                  <a:srgbClr val="9E9E9E"/>
                </a:solidFill>
                <a:uFill>
                  <a:noFill/>
                </a:uFill>
                <a:latin typeface="Montserrat"/>
                <a:ea typeface="Montserrat"/>
                <a:cs typeface="Montserrat"/>
                <a:sym typeface="Montserrat"/>
                <a:hlinkClick r:id="rId4">
                  <a:extLst>
                    <a:ext uri="{A12FA001-AC4F-418D-AE19-62706E023703}">
                      <ahyp:hlinkClr val="tx"/>
                    </a:ext>
                  </a:extLst>
                </a:hlinkClick>
              </a:rPr>
              <a:t>cpd-traffic-crashes-people</a:t>
            </a:r>
            <a:r>
              <a:rPr lang="en" sz="1600">
                <a:solidFill>
                  <a:srgbClr val="9E9E9E"/>
                </a:solidFill>
                <a:latin typeface="Montserrat"/>
                <a:ea typeface="Montserrat"/>
                <a:cs typeface="Montserrat"/>
                <a:sym typeface="Montserrat"/>
              </a:rPr>
              <a:t> This data contains information about people involved in a crash and if any injuries were sustained.</a:t>
            </a:r>
            <a:endParaRPr sz="1600">
              <a:solidFill>
                <a:srgbClr val="9E9E9E"/>
              </a:solidFill>
              <a:latin typeface="Montserrat"/>
              <a:ea typeface="Montserrat"/>
              <a:cs typeface="Montserrat"/>
              <a:sym typeface="Montserrat"/>
            </a:endParaRPr>
          </a:p>
          <a:p>
            <a:pPr indent="-330200" lvl="0" marL="457200" rtl="0" algn="l">
              <a:spcBef>
                <a:spcPts val="0"/>
              </a:spcBef>
              <a:spcAft>
                <a:spcPts val="0"/>
              </a:spcAft>
              <a:buClr>
                <a:srgbClr val="9E9E9E"/>
              </a:buClr>
              <a:buSzPts val="1600"/>
              <a:buFont typeface="Montserrat"/>
              <a:buChar char="●"/>
            </a:pPr>
            <a:r>
              <a:rPr lang="en" sz="1600">
                <a:solidFill>
                  <a:srgbClr val="9E9E9E"/>
                </a:solidFill>
                <a:uFill>
                  <a:noFill/>
                </a:uFill>
                <a:latin typeface="Montserrat"/>
                <a:ea typeface="Montserrat"/>
                <a:cs typeface="Montserrat"/>
                <a:sym typeface="Montserrat"/>
                <a:hlinkClick r:id="rId5">
                  <a:extLst>
                    <a:ext uri="{A12FA001-AC4F-418D-AE19-62706E023703}">
                      <ahyp:hlinkClr val="tx"/>
                    </a:ext>
                  </a:extLst>
                </a:hlinkClick>
              </a:rPr>
              <a:t>cpd-traffic-crashes-vehicles</a:t>
            </a:r>
            <a:r>
              <a:rPr lang="en" sz="1600">
                <a:solidFill>
                  <a:srgbClr val="9E9E9E"/>
                </a:solidFill>
                <a:latin typeface="Montserrat"/>
                <a:ea typeface="Montserrat"/>
                <a:cs typeface="Montserrat"/>
                <a:sym typeface="Montserrat"/>
              </a:rPr>
              <a:t> This dataset contains information about vehicles (or units as they are identified in crash reports) involved in a traffic crash.</a:t>
            </a:r>
            <a:endParaRPr sz="1600">
              <a:solidFill>
                <a:srgbClr val="9E9E9E"/>
              </a:solidFill>
              <a:latin typeface="Montserrat"/>
              <a:ea typeface="Montserrat"/>
              <a:cs typeface="Montserrat"/>
              <a:sym typeface="Montserrat"/>
            </a:endParaRPr>
          </a:p>
          <a:p>
            <a:pPr indent="0" lvl="0" marL="0" rtl="0" algn="l">
              <a:spcBef>
                <a:spcPts val="1100"/>
              </a:spcBef>
              <a:spcAft>
                <a:spcPts val="1200"/>
              </a:spcAft>
              <a:buNone/>
            </a:pPr>
            <a:r>
              <a:rPr lang="en" sz="1600">
                <a:solidFill>
                  <a:srgbClr val="9E9E9E"/>
                </a:solidFill>
                <a:latin typeface="Montserrat"/>
                <a:ea typeface="Montserrat"/>
                <a:cs typeface="Montserrat"/>
                <a:sym typeface="Montserrat"/>
              </a:rPr>
              <a:t>The three datasets were utilized to gain a comprehensive understanding of cash data involving both individuals and vehicles.</a:t>
            </a:r>
            <a:endParaRPr sz="1600">
              <a:solidFill>
                <a:srgbClr val="9E9E9E"/>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9E9E9E"/>
                </a:solidFill>
                <a:latin typeface="Montserrat"/>
                <a:ea typeface="Montserrat"/>
                <a:cs typeface="Montserrat"/>
                <a:sym typeface="Montserrat"/>
              </a:rPr>
              <a:t>Findings</a:t>
            </a:r>
            <a:endParaRPr b="1">
              <a:solidFill>
                <a:srgbClr val="9E9E9E"/>
              </a:solidFill>
              <a:latin typeface="Montserrat"/>
              <a:ea typeface="Montserrat"/>
              <a:cs typeface="Montserrat"/>
              <a:sym typeface="Montserrat"/>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5" name="Google Shape;85;p17"/>
          <p:cNvPicPr preferRelativeResize="0"/>
          <p:nvPr/>
        </p:nvPicPr>
        <p:blipFill>
          <a:blip r:embed="rId3">
            <a:alphaModFix/>
          </a:blip>
          <a:stretch>
            <a:fillRect/>
          </a:stretch>
        </p:blipFill>
        <p:spPr>
          <a:xfrm>
            <a:off x="4258224" y="311950"/>
            <a:ext cx="4765725" cy="4519600"/>
          </a:xfrm>
          <a:prstGeom prst="rect">
            <a:avLst/>
          </a:prstGeom>
          <a:noFill/>
          <a:ln>
            <a:noFill/>
          </a:ln>
        </p:spPr>
      </p:pic>
      <p:sp>
        <p:nvSpPr>
          <p:cNvPr id="86" name="Google Shape;86;p17"/>
          <p:cNvSpPr txBox="1"/>
          <p:nvPr/>
        </p:nvSpPr>
        <p:spPr>
          <a:xfrm>
            <a:off x="406800" y="575475"/>
            <a:ext cx="3348600" cy="412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50">
              <a:solidFill>
                <a:schemeClr val="dk1"/>
              </a:solidFill>
              <a:highlight>
                <a:srgbClr val="FFFFFF"/>
              </a:highlight>
            </a:endParaRPr>
          </a:p>
          <a:p>
            <a:pPr indent="0" lvl="0" marL="0" rtl="0" algn="l">
              <a:spcBef>
                <a:spcPts val="0"/>
              </a:spcBef>
              <a:spcAft>
                <a:spcPts val="0"/>
              </a:spcAft>
              <a:buNone/>
            </a:pPr>
            <a:r>
              <a:t/>
            </a:r>
            <a:endParaRPr sz="1050">
              <a:solidFill>
                <a:schemeClr val="dk1"/>
              </a:solidFill>
              <a:highlight>
                <a:srgbClr val="FFFFFF"/>
              </a:highlight>
            </a:endParaRPr>
          </a:p>
          <a:p>
            <a:pPr indent="0" lvl="0" marL="0" rtl="0" algn="l">
              <a:spcBef>
                <a:spcPts val="0"/>
              </a:spcBef>
              <a:spcAft>
                <a:spcPts val="0"/>
              </a:spcAft>
              <a:buNone/>
            </a:pPr>
            <a:r>
              <a:t/>
            </a:r>
            <a:endParaRPr sz="1050">
              <a:solidFill>
                <a:schemeClr val="dk1"/>
              </a:solidFill>
              <a:highlight>
                <a:srgbClr val="FFFFFF"/>
              </a:highlight>
            </a:endParaRPr>
          </a:p>
          <a:p>
            <a:pPr indent="0" lvl="0" marL="0" rtl="0" algn="l">
              <a:spcBef>
                <a:spcPts val="0"/>
              </a:spcBef>
              <a:spcAft>
                <a:spcPts val="0"/>
              </a:spcAft>
              <a:buNone/>
            </a:pPr>
            <a:r>
              <a:rPr lang="en" sz="1750">
                <a:solidFill>
                  <a:srgbClr val="9E9E9E"/>
                </a:solidFill>
                <a:latin typeface="Montserrat"/>
                <a:ea typeface="Montserrat"/>
                <a:cs typeface="Montserrat"/>
                <a:sym typeface="Montserrat"/>
              </a:rPr>
              <a:t>The above chart highlights the frequency of each injury type, showing which outcomes are most common. The taller bars like "NO INDICATION OF INJURY" suggest that most crashes lead to minor injury while shorter bars for "INCAPACITATING INJURY" or "FATAL" indicate that there are rarer, severe cases on most occasion of a crash.</a:t>
            </a:r>
            <a:endParaRPr sz="2500">
              <a:solidFill>
                <a:srgbClr val="9E9E9E"/>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2" name="Google Shape;92;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3" name="Google Shape;93;p18"/>
          <p:cNvPicPr preferRelativeResize="0"/>
          <p:nvPr/>
        </p:nvPicPr>
        <p:blipFill>
          <a:blip r:embed="rId3">
            <a:alphaModFix/>
          </a:blip>
          <a:stretch>
            <a:fillRect/>
          </a:stretch>
        </p:blipFill>
        <p:spPr>
          <a:xfrm>
            <a:off x="4216800" y="667350"/>
            <a:ext cx="4927200" cy="3765300"/>
          </a:xfrm>
          <a:prstGeom prst="rect">
            <a:avLst/>
          </a:prstGeom>
          <a:noFill/>
          <a:ln>
            <a:noFill/>
          </a:ln>
        </p:spPr>
      </p:pic>
      <p:sp>
        <p:nvSpPr>
          <p:cNvPr id="94" name="Google Shape;94;p18"/>
          <p:cNvSpPr txBox="1"/>
          <p:nvPr/>
        </p:nvSpPr>
        <p:spPr>
          <a:xfrm>
            <a:off x="600275" y="649875"/>
            <a:ext cx="3735600" cy="37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9E9E9E"/>
                </a:solidFill>
                <a:latin typeface="Montserrat"/>
                <a:ea typeface="Montserrat"/>
                <a:cs typeface="Montserrat"/>
                <a:sym typeface="Montserrat"/>
              </a:rPr>
              <a:t>Most crash-involved individuals fall </a:t>
            </a:r>
            <a:r>
              <a:rPr lang="en" sz="1800">
                <a:solidFill>
                  <a:srgbClr val="9E9E9E"/>
                </a:solidFill>
                <a:latin typeface="Montserrat"/>
                <a:ea typeface="Montserrat"/>
                <a:cs typeface="Montserrat"/>
                <a:sym typeface="Montserrat"/>
              </a:rPr>
              <a:t>within</a:t>
            </a:r>
            <a:r>
              <a:rPr lang="en" sz="1800">
                <a:solidFill>
                  <a:srgbClr val="9E9E9E"/>
                </a:solidFill>
                <a:latin typeface="Montserrat"/>
                <a:ea typeface="Montserrat"/>
                <a:cs typeface="Montserrat"/>
                <a:sym typeface="Montserrat"/>
              </a:rPr>
              <a:t> the young to middle-age range of </a:t>
            </a:r>
            <a:r>
              <a:rPr lang="en" sz="1800">
                <a:solidFill>
                  <a:srgbClr val="9E9E9E"/>
                </a:solidFill>
                <a:latin typeface="Montserrat"/>
                <a:ea typeface="Montserrat"/>
                <a:cs typeface="Montserrat"/>
                <a:sym typeface="Montserrat"/>
              </a:rPr>
              <a:t>around</a:t>
            </a:r>
            <a:r>
              <a:rPr lang="en" sz="1800">
                <a:solidFill>
                  <a:srgbClr val="9E9E9E"/>
                </a:solidFill>
                <a:latin typeface="Montserrat"/>
                <a:ea typeface="Montserrat"/>
                <a:cs typeface="Montserrat"/>
                <a:sym typeface="Montserrat"/>
              </a:rPr>
              <a:t> 20-40 years. Less severe injuries dominate across all ages while severe outcomes appear more frequently at younger and older age extremes.</a:t>
            </a:r>
            <a:endParaRPr sz="1800">
              <a:solidFill>
                <a:srgbClr val="9E9E9E"/>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0" name="Google Shape;10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1" name="Google Shape;101;p19"/>
          <p:cNvPicPr preferRelativeResize="0"/>
          <p:nvPr/>
        </p:nvPicPr>
        <p:blipFill>
          <a:blip r:embed="rId3">
            <a:alphaModFix/>
          </a:blip>
          <a:stretch>
            <a:fillRect/>
          </a:stretch>
        </p:blipFill>
        <p:spPr>
          <a:xfrm>
            <a:off x="311700" y="0"/>
            <a:ext cx="8520599" cy="51434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7" name="Google Shape;10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150">
                <a:solidFill>
                  <a:srgbClr val="9E9E9E"/>
                </a:solidFill>
                <a:latin typeface="Montserrat"/>
                <a:ea typeface="Montserrat"/>
                <a:cs typeface="Montserrat"/>
                <a:sym typeface="Montserrat"/>
              </a:rPr>
              <a:t>Most crashes across all weather conditions result in minor or no injuries. Severe injuries appear slightly more common in adverse conditions including snow and windy conditions. This suggests weather may influence injury severity.</a:t>
            </a:r>
            <a:endParaRPr sz="2900">
              <a:solidFill>
                <a:srgbClr val="9E9E9E"/>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3" name="Google Shape;11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4" name="Google Shape;114;p21"/>
          <p:cNvPicPr preferRelativeResize="0"/>
          <p:nvPr/>
        </p:nvPicPr>
        <p:blipFill>
          <a:blip r:embed="rId3">
            <a:alphaModFix/>
          </a:blip>
          <a:stretch>
            <a:fillRect/>
          </a:stretch>
        </p:blipFill>
        <p:spPr>
          <a:xfrm>
            <a:off x="504825" y="204788"/>
            <a:ext cx="8134350" cy="4733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0" name="Google Shape;120;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050">
                <a:solidFill>
                  <a:srgbClr val="9E9E9E"/>
                </a:solidFill>
                <a:latin typeface="Montserrat"/>
                <a:ea typeface="Montserrat"/>
                <a:cs typeface="Montserrat"/>
                <a:sym typeface="Montserrat"/>
              </a:rPr>
              <a:t>Crash frequency peaks during the morning rush hours and in the afternoon rush hours which are typically commute hours. Most injuries are </a:t>
            </a:r>
            <a:r>
              <a:rPr lang="en" sz="2050">
                <a:solidFill>
                  <a:srgbClr val="9E9E9E"/>
                </a:solidFill>
                <a:latin typeface="Montserrat"/>
                <a:ea typeface="Montserrat"/>
                <a:cs typeface="Montserrat"/>
                <a:sym typeface="Montserrat"/>
              </a:rPr>
              <a:t>minor</a:t>
            </a:r>
            <a:r>
              <a:rPr lang="en" sz="2050">
                <a:solidFill>
                  <a:srgbClr val="9E9E9E"/>
                </a:solidFill>
                <a:latin typeface="Montserrat"/>
                <a:ea typeface="Montserrat"/>
                <a:cs typeface="Montserrat"/>
                <a:sym typeface="Montserrat"/>
              </a:rPr>
              <a:t>, but severe injuries occur steadily throughout the day suggesting </a:t>
            </a:r>
            <a:r>
              <a:rPr lang="en" sz="2050">
                <a:solidFill>
                  <a:srgbClr val="9E9E9E"/>
                </a:solidFill>
                <a:latin typeface="Montserrat"/>
                <a:ea typeface="Montserrat"/>
                <a:cs typeface="Montserrat"/>
                <a:sym typeface="Montserrat"/>
              </a:rPr>
              <a:t>risk</a:t>
            </a:r>
            <a:r>
              <a:rPr lang="en" sz="2050">
                <a:solidFill>
                  <a:srgbClr val="9E9E9E"/>
                </a:solidFill>
                <a:latin typeface="Montserrat"/>
                <a:ea typeface="Montserrat"/>
                <a:cs typeface="Montserrat"/>
                <a:sym typeface="Montserrat"/>
              </a:rPr>
              <a:t> exists beyond peak traffic times.</a:t>
            </a:r>
            <a:endParaRPr sz="2050">
              <a:solidFill>
                <a:srgbClr val="9E9E9E"/>
              </a:solidFill>
              <a:latin typeface="Montserrat"/>
              <a:ea typeface="Montserrat"/>
              <a:cs typeface="Montserrat"/>
              <a:sym typeface="Montserrat"/>
            </a:endParaRPr>
          </a:p>
          <a:p>
            <a:pPr indent="0" lvl="0" marL="0" rtl="0" algn="l">
              <a:spcBef>
                <a:spcPts val="1100"/>
              </a:spcBef>
              <a:spcAft>
                <a:spcPts val="0"/>
              </a:spcAft>
              <a:buClr>
                <a:schemeClr val="dk1"/>
              </a:buClr>
              <a:buSzPts val="1100"/>
              <a:buFont typeface="Arial"/>
              <a:buNone/>
            </a:pPr>
            <a:r>
              <a:rPr lang="en" sz="2050">
                <a:solidFill>
                  <a:srgbClr val="9E9E9E"/>
                </a:solidFill>
                <a:latin typeface="Montserrat"/>
                <a:ea typeface="Montserrat"/>
                <a:cs typeface="Montserrat"/>
                <a:sym typeface="Montserrat"/>
              </a:rPr>
              <a:t>The line plot shows the total number of crashes that occured during each hour of the day.</a:t>
            </a:r>
            <a:endParaRPr sz="2050">
              <a:solidFill>
                <a:srgbClr val="9E9E9E"/>
              </a:solidFill>
              <a:latin typeface="Montserrat"/>
              <a:ea typeface="Montserrat"/>
              <a:cs typeface="Montserrat"/>
              <a:sym typeface="Montserrat"/>
            </a:endParaRPr>
          </a:p>
          <a:p>
            <a:pPr indent="0" lvl="0" marL="0" rtl="0" algn="l">
              <a:spcBef>
                <a:spcPts val="5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6" name="Google Shape;12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7" name="Google Shape;127;p23"/>
          <p:cNvPicPr preferRelativeResize="0"/>
          <p:nvPr/>
        </p:nvPicPr>
        <p:blipFill>
          <a:blip r:embed="rId3">
            <a:alphaModFix/>
          </a:blip>
          <a:stretch>
            <a:fillRect/>
          </a:stretch>
        </p:blipFill>
        <p:spPr>
          <a:xfrm>
            <a:off x="504825" y="204788"/>
            <a:ext cx="8134350" cy="4733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3" name="Google Shape;133;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150">
                <a:solidFill>
                  <a:srgbClr val="9E9E9E"/>
                </a:solidFill>
                <a:latin typeface="Montserrat"/>
                <a:ea typeface="Montserrat"/>
                <a:cs typeface="Montserrat"/>
                <a:sym typeface="Montserrat"/>
              </a:rPr>
              <a:t>Crash frequency remains fairly consistent throughout the year with slight peaks in warmer months like May and July. Severe injuries are relatively stable across months suggesting seasonality has limited influence on injury severity.</a:t>
            </a:r>
            <a:endParaRPr sz="2150">
              <a:solidFill>
                <a:srgbClr val="9E9E9E"/>
              </a:solidFill>
              <a:latin typeface="Montserrat"/>
              <a:ea typeface="Montserrat"/>
              <a:cs typeface="Montserrat"/>
              <a:sym typeface="Montserrat"/>
            </a:endParaRPr>
          </a:p>
          <a:p>
            <a:pPr indent="0" lvl="0" marL="0" rtl="0" algn="l">
              <a:spcBef>
                <a:spcPts val="1100"/>
              </a:spcBef>
              <a:spcAft>
                <a:spcPts val="0"/>
              </a:spcAft>
              <a:buClr>
                <a:schemeClr val="dk1"/>
              </a:buClr>
              <a:buSzPts val="1100"/>
              <a:buFont typeface="Arial"/>
              <a:buNone/>
            </a:pPr>
            <a:r>
              <a:t/>
            </a:r>
            <a:endParaRPr sz="2150">
              <a:solidFill>
                <a:srgbClr val="9E9E9E"/>
              </a:solidFill>
              <a:latin typeface="Montserrat"/>
              <a:ea typeface="Montserrat"/>
              <a:cs typeface="Montserrat"/>
              <a:sym typeface="Montserrat"/>
            </a:endParaRPr>
          </a:p>
          <a:p>
            <a:pPr indent="0" lvl="0" marL="0" rtl="0" algn="l">
              <a:spcBef>
                <a:spcPts val="5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9" name="Google Shape;139;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0" name="Google Shape;140;p25"/>
          <p:cNvPicPr preferRelativeResize="0"/>
          <p:nvPr/>
        </p:nvPicPr>
        <p:blipFill>
          <a:blip r:embed="rId3">
            <a:alphaModFix/>
          </a:blip>
          <a:stretch>
            <a:fillRect/>
          </a:stretch>
        </p:blipFill>
        <p:spPr>
          <a:xfrm>
            <a:off x="2415975" y="0"/>
            <a:ext cx="6728024" cy="5143500"/>
          </a:xfrm>
          <a:prstGeom prst="rect">
            <a:avLst/>
          </a:prstGeom>
          <a:noFill/>
          <a:ln>
            <a:noFill/>
          </a:ln>
        </p:spPr>
      </p:pic>
      <p:sp>
        <p:nvSpPr>
          <p:cNvPr id="141" name="Google Shape;141;p25"/>
          <p:cNvSpPr txBox="1"/>
          <p:nvPr/>
        </p:nvSpPr>
        <p:spPr>
          <a:xfrm>
            <a:off x="79400" y="203400"/>
            <a:ext cx="2217600" cy="37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450">
                <a:solidFill>
                  <a:srgbClr val="9E9E9E"/>
                </a:solidFill>
                <a:latin typeface="Montserrat"/>
                <a:ea typeface="Montserrat"/>
                <a:cs typeface="Montserrat"/>
                <a:sym typeface="Montserrat"/>
              </a:rPr>
              <a:t>The stacked bar chart compares injury severity proportions for the five most frequently used types of safety equipment. Most individuals using safety belts experience minor or no injuries, while less common equipment types show higher proportions of severe injuries. This highlights the effectiveness of safety belts in reducing injury severity during crashes.</a:t>
            </a:r>
            <a:endParaRPr sz="2200">
              <a:solidFill>
                <a:srgbClr val="9E9E9E"/>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7" name="Google Shape;14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8" name="Google Shape;148;p26"/>
          <p:cNvPicPr preferRelativeResize="0"/>
          <p:nvPr/>
        </p:nvPicPr>
        <p:blipFill>
          <a:blip r:embed="rId3">
            <a:alphaModFix/>
          </a:blip>
          <a:stretch>
            <a:fillRect/>
          </a:stretch>
        </p:blipFill>
        <p:spPr>
          <a:xfrm>
            <a:off x="4157275" y="203400"/>
            <a:ext cx="4911325" cy="4583900"/>
          </a:xfrm>
          <a:prstGeom prst="rect">
            <a:avLst/>
          </a:prstGeom>
          <a:noFill/>
          <a:ln>
            <a:noFill/>
          </a:ln>
        </p:spPr>
      </p:pic>
      <p:sp>
        <p:nvSpPr>
          <p:cNvPr id="149" name="Google Shape;149;p26"/>
          <p:cNvSpPr txBox="1"/>
          <p:nvPr/>
        </p:nvSpPr>
        <p:spPr>
          <a:xfrm>
            <a:off x="556050" y="798700"/>
            <a:ext cx="3452700" cy="33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9E9E9E"/>
                </a:solidFill>
                <a:latin typeface="Montserrat"/>
                <a:ea typeface="Montserrat"/>
                <a:cs typeface="Montserrat"/>
                <a:sym typeface="Montserrat"/>
              </a:rPr>
              <a:t>The bar chart displays the five most common traffic control devices present at crash scenes, with "NO CONTROLS" and "TRAFFIC SIGNAL" being the most frequent. This highlights intersections and uncontrolled areas as key locations for crash occurrences.</a:t>
            </a:r>
            <a:endParaRPr sz="1800">
              <a:solidFill>
                <a:srgbClr val="9E9E9E"/>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solidFill>
                  <a:srgbClr val="9E9E9E"/>
                </a:solidFill>
                <a:latin typeface="Montserrat"/>
                <a:ea typeface="Montserrat"/>
                <a:cs typeface="Montserrat"/>
                <a:sym typeface="Montserrat"/>
              </a:rPr>
              <a:t>Our Modelling Approach</a:t>
            </a:r>
            <a:endParaRPr b="1">
              <a:solidFill>
                <a:srgbClr val="9E9E9E"/>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155" name="Google Shape;155;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rgbClr val="9E9E9E"/>
                </a:solidFill>
                <a:latin typeface="Montserrat"/>
                <a:ea typeface="Montserrat"/>
                <a:cs typeface="Montserrat"/>
                <a:sym typeface="Montserrat"/>
              </a:rPr>
              <a:t>We decided to make use of several models, namely logistic regression, decision tree, random forest, </a:t>
            </a:r>
            <a:r>
              <a:rPr lang="en">
                <a:solidFill>
                  <a:srgbClr val="9E9E9E"/>
                </a:solidFill>
                <a:latin typeface="Montserrat"/>
                <a:ea typeface="Montserrat"/>
                <a:cs typeface="Montserrat"/>
                <a:sym typeface="Montserrat"/>
              </a:rPr>
              <a:t>AdaBoost and XGBoost models. </a:t>
            </a:r>
            <a:endParaRPr>
              <a:solidFill>
                <a:srgbClr val="9E9E9E"/>
              </a:solidFill>
              <a:latin typeface="Montserrat"/>
              <a:ea typeface="Montserrat"/>
              <a:cs typeface="Montserrat"/>
              <a:sym typeface="Montserrat"/>
            </a:endParaRPr>
          </a:p>
          <a:p>
            <a:pPr indent="0" lvl="0" marL="0" rtl="0" algn="l">
              <a:spcBef>
                <a:spcPts val="1200"/>
              </a:spcBef>
              <a:spcAft>
                <a:spcPts val="0"/>
              </a:spcAft>
              <a:buNone/>
            </a:pPr>
            <a:r>
              <a:rPr lang="en">
                <a:solidFill>
                  <a:srgbClr val="9E9E9E"/>
                </a:solidFill>
                <a:latin typeface="Montserrat"/>
                <a:ea typeface="Montserrat"/>
                <a:cs typeface="Montserrat"/>
                <a:sym typeface="Montserrat"/>
              </a:rPr>
              <a:t>Each model was trained using a robust pipeline with hyperparameter tuning using GridSearchCV for optimal model performance.</a:t>
            </a:r>
            <a:endParaRPr>
              <a:solidFill>
                <a:srgbClr val="9E9E9E"/>
              </a:solidFill>
              <a:latin typeface="Montserrat"/>
              <a:ea typeface="Montserrat"/>
              <a:cs typeface="Montserrat"/>
              <a:sym typeface="Montserrat"/>
            </a:endParaRPr>
          </a:p>
          <a:p>
            <a:pPr indent="0" lvl="0" marL="0" rtl="0" algn="l">
              <a:spcBef>
                <a:spcPts val="1200"/>
              </a:spcBef>
              <a:spcAft>
                <a:spcPts val="0"/>
              </a:spcAft>
              <a:buNone/>
            </a:pPr>
            <a:r>
              <a:rPr lang="en">
                <a:solidFill>
                  <a:srgbClr val="9E9E9E"/>
                </a:solidFill>
                <a:latin typeface="Montserrat"/>
                <a:ea typeface="Montserrat"/>
                <a:cs typeface="Montserrat"/>
                <a:sym typeface="Montserrat"/>
              </a:rPr>
              <a:t>After intense deliberation, it seemed that the best model was the tuned decision tree, as it had relatively decent accuracy, and was best at classifying minority classes, making it the best model in terms of generalization and fairness.</a:t>
            </a:r>
            <a:endParaRPr>
              <a:solidFill>
                <a:srgbClr val="9E9E9E"/>
              </a:solidFill>
              <a:latin typeface="Montserrat"/>
              <a:ea typeface="Montserrat"/>
              <a:cs typeface="Montserrat"/>
              <a:sym typeface="Montserrat"/>
            </a:endParaRPr>
          </a:p>
          <a:p>
            <a:pPr indent="0" lvl="0" marL="0" rtl="0" algn="l">
              <a:spcBef>
                <a:spcPts val="1200"/>
              </a:spcBef>
              <a:spcAft>
                <a:spcPts val="1200"/>
              </a:spcAft>
              <a:buClr>
                <a:schemeClr val="dk1"/>
              </a:buClr>
              <a:buSzPts val="1100"/>
              <a:buFont typeface="Arial"/>
              <a:buNone/>
            </a:pPr>
            <a:r>
              <a:t/>
            </a:r>
            <a:endParaRPr>
              <a:solidFill>
                <a:srgbClr val="383838"/>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9E9E9E"/>
                </a:solidFill>
                <a:latin typeface="Montserrat"/>
                <a:ea typeface="Montserrat"/>
                <a:cs typeface="Montserrat"/>
                <a:sym typeface="Montserrat"/>
              </a:rPr>
              <a:t>Conclusions</a:t>
            </a:r>
            <a:endParaRPr b="1">
              <a:solidFill>
                <a:srgbClr val="9E9E9E"/>
              </a:solidFill>
              <a:latin typeface="Montserrat"/>
              <a:ea typeface="Montserrat"/>
              <a:cs typeface="Montserrat"/>
              <a:sym typeface="Montserrat"/>
            </a:endParaRPr>
          </a:p>
        </p:txBody>
      </p:sp>
      <p:sp>
        <p:nvSpPr>
          <p:cNvPr id="161" name="Google Shape;16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100"/>
              </a:spcBef>
              <a:spcAft>
                <a:spcPts val="0"/>
              </a:spcAft>
              <a:buNone/>
            </a:pPr>
            <a:r>
              <a:rPr lang="en" sz="1850">
                <a:solidFill>
                  <a:srgbClr val="9E9E9E"/>
                </a:solidFill>
                <a:latin typeface="Montserrat"/>
                <a:ea typeface="Montserrat"/>
                <a:cs typeface="Montserrat"/>
                <a:sym typeface="Montserrat"/>
              </a:rPr>
              <a:t>Most road traffic crashes in Chicago lead to minor or no injuries, with serious injuries—such as fatalities or incapacitating harm—remaining relatively uncommon.</a:t>
            </a:r>
            <a:endParaRPr sz="1850">
              <a:solidFill>
                <a:srgbClr val="9E9E9E"/>
              </a:solidFill>
              <a:latin typeface="Montserrat"/>
              <a:ea typeface="Montserrat"/>
              <a:cs typeface="Montserrat"/>
              <a:sym typeface="Montserrat"/>
            </a:endParaRPr>
          </a:p>
          <a:p>
            <a:pPr indent="0" lvl="0" marL="0" rtl="0" algn="l">
              <a:spcBef>
                <a:spcPts val="1100"/>
              </a:spcBef>
              <a:spcAft>
                <a:spcPts val="0"/>
              </a:spcAft>
              <a:buNone/>
            </a:pPr>
            <a:r>
              <a:rPr lang="en" sz="1850">
                <a:solidFill>
                  <a:srgbClr val="9E9E9E"/>
                </a:solidFill>
                <a:latin typeface="Montserrat"/>
                <a:ea typeface="Montserrat"/>
                <a:cs typeface="Montserrat"/>
                <a:sym typeface="Montserrat"/>
              </a:rPr>
              <a:t>The use of safety equipment, particularly seat belts, shows a strong correlation with lower injury severity, emphasizing its vital role in improving crash outcomes.</a:t>
            </a:r>
            <a:endParaRPr sz="1850">
              <a:solidFill>
                <a:srgbClr val="9E9E9E"/>
              </a:solidFill>
              <a:latin typeface="Montserrat"/>
              <a:ea typeface="Montserrat"/>
              <a:cs typeface="Montserrat"/>
              <a:sym typeface="Montserrat"/>
            </a:endParaRPr>
          </a:p>
          <a:p>
            <a:pPr indent="0" lvl="0" marL="0" rtl="0" algn="l">
              <a:spcBef>
                <a:spcPts val="1100"/>
              </a:spcBef>
              <a:spcAft>
                <a:spcPts val="0"/>
              </a:spcAft>
              <a:buNone/>
            </a:pPr>
            <a:r>
              <a:rPr lang="en" sz="1850">
                <a:solidFill>
                  <a:srgbClr val="9E9E9E"/>
                </a:solidFill>
                <a:latin typeface="Montserrat"/>
                <a:ea typeface="Montserrat"/>
                <a:cs typeface="Montserrat"/>
                <a:sym typeface="Montserrat"/>
              </a:rPr>
              <a:t>Factors like speed limits, weather, and time of day significantly impact crash rates and injury severity, with elevated risks during peak traffic hours and unfavorable weather conditions.</a:t>
            </a:r>
            <a:endParaRPr sz="1850">
              <a:solidFill>
                <a:srgbClr val="9E9E9E"/>
              </a:solidFill>
              <a:latin typeface="Montserrat"/>
              <a:ea typeface="Montserrat"/>
              <a:cs typeface="Montserrat"/>
              <a:sym typeface="Montserrat"/>
            </a:endParaRPr>
          </a:p>
          <a:p>
            <a:pPr indent="0" lvl="0" marL="0" rtl="0" algn="l">
              <a:spcBef>
                <a:spcPts val="11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9E9E9E"/>
                </a:solidFill>
                <a:latin typeface="Montserrat"/>
                <a:ea typeface="Montserrat"/>
                <a:cs typeface="Montserrat"/>
                <a:sym typeface="Montserrat"/>
              </a:rPr>
              <a:t>Recommendations</a:t>
            </a:r>
            <a:endParaRPr b="1">
              <a:solidFill>
                <a:srgbClr val="9E9E9E"/>
              </a:solidFill>
              <a:latin typeface="Montserrat"/>
              <a:ea typeface="Montserrat"/>
              <a:cs typeface="Montserrat"/>
              <a:sym typeface="Montserrat"/>
            </a:endParaRPr>
          </a:p>
        </p:txBody>
      </p:sp>
      <p:sp>
        <p:nvSpPr>
          <p:cNvPr id="167" name="Google Shape;167;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9725" lvl="0" marL="457200" rtl="0" algn="l">
              <a:spcBef>
                <a:spcPts val="1100"/>
              </a:spcBef>
              <a:spcAft>
                <a:spcPts val="0"/>
              </a:spcAft>
              <a:buClr>
                <a:srgbClr val="9E9E9E"/>
              </a:buClr>
              <a:buSzPts val="1750"/>
              <a:buFont typeface="Montserrat"/>
              <a:buAutoNum type="arabicPeriod"/>
            </a:pPr>
            <a:r>
              <a:rPr lang="en" sz="1750">
                <a:solidFill>
                  <a:srgbClr val="9E9E9E"/>
                </a:solidFill>
                <a:latin typeface="Montserrat"/>
                <a:ea typeface="Montserrat"/>
                <a:cs typeface="Montserrat"/>
                <a:sym typeface="Montserrat"/>
              </a:rPr>
              <a:t>Continue to promote and strictly enforce seat belt use and other proven safety measures to help further reduce the severity of injuries in traffic incidents.</a:t>
            </a:r>
            <a:endParaRPr sz="1750">
              <a:solidFill>
                <a:srgbClr val="9E9E9E"/>
              </a:solidFill>
              <a:latin typeface="Montserrat"/>
              <a:ea typeface="Montserrat"/>
              <a:cs typeface="Montserrat"/>
              <a:sym typeface="Montserrat"/>
            </a:endParaRPr>
          </a:p>
          <a:p>
            <a:pPr indent="-339725" lvl="0" marL="457200" rtl="0" algn="l">
              <a:spcBef>
                <a:spcPts val="0"/>
              </a:spcBef>
              <a:spcAft>
                <a:spcPts val="0"/>
              </a:spcAft>
              <a:buClr>
                <a:srgbClr val="9E9E9E"/>
              </a:buClr>
              <a:buSzPts val="1750"/>
              <a:buFont typeface="Montserrat"/>
              <a:buAutoNum type="arabicPeriod"/>
            </a:pPr>
            <a:r>
              <a:rPr lang="en" sz="1750">
                <a:solidFill>
                  <a:srgbClr val="9E9E9E"/>
                </a:solidFill>
                <a:latin typeface="Montserrat"/>
                <a:ea typeface="Montserrat"/>
                <a:cs typeface="Montserrat"/>
                <a:sym typeface="Montserrat"/>
              </a:rPr>
              <a:t>Deploy targeted safety interventions during high-risk times—such as rush hours and poor weather—and in areas with higher speed limits to curb crash rates and their severity.</a:t>
            </a:r>
            <a:endParaRPr sz="1750">
              <a:solidFill>
                <a:srgbClr val="9E9E9E"/>
              </a:solidFill>
              <a:latin typeface="Montserrat"/>
              <a:ea typeface="Montserrat"/>
              <a:cs typeface="Montserrat"/>
              <a:sym typeface="Montserrat"/>
            </a:endParaRPr>
          </a:p>
          <a:p>
            <a:pPr indent="-339725" lvl="0" marL="457200" rtl="0" algn="l">
              <a:spcBef>
                <a:spcPts val="0"/>
              </a:spcBef>
              <a:spcAft>
                <a:spcPts val="0"/>
              </a:spcAft>
              <a:buClr>
                <a:srgbClr val="9E9E9E"/>
              </a:buClr>
              <a:buSzPts val="1750"/>
              <a:buFont typeface="Montserrat"/>
              <a:buAutoNum type="arabicPeriod"/>
            </a:pPr>
            <a:r>
              <a:rPr lang="en" sz="1750">
                <a:solidFill>
                  <a:srgbClr val="9E9E9E"/>
                </a:solidFill>
                <a:latin typeface="Montserrat"/>
                <a:ea typeface="Montserrat"/>
                <a:cs typeface="Montserrat"/>
                <a:sym typeface="Montserrat"/>
              </a:rPr>
              <a:t>Mitigate class imbalance in predictive models by employing techniques like SMOTE or other resampling strategies to enhance the model’s ability to identify severe injury cases.</a:t>
            </a:r>
            <a:endParaRPr sz="1750">
              <a:solidFill>
                <a:srgbClr val="9E9E9E"/>
              </a:solidFill>
              <a:latin typeface="Montserrat"/>
              <a:ea typeface="Montserrat"/>
              <a:cs typeface="Montserrat"/>
              <a:sym typeface="Montserrat"/>
            </a:endParaRPr>
          </a:p>
          <a:p>
            <a:pPr indent="0" lvl="0" marL="0" rtl="0" algn="l">
              <a:spcBef>
                <a:spcPts val="11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9E9E9E"/>
                </a:solidFill>
                <a:latin typeface="Montserrat"/>
                <a:ea typeface="Montserrat"/>
                <a:cs typeface="Montserrat"/>
                <a:sym typeface="Montserrat"/>
              </a:rPr>
              <a:t>Next Steps</a:t>
            </a:r>
            <a:endParaRPr b="1">
              <a:solidFill>
                <a:srgbClr val="9E9E9E"/>
              </a:solidFill>
              <a:latin typeface="Montserrat"/>
              <a:ea typeface="Montserrat"/>
              <a:cs typeface="Montserrat"/>
              <a:sym typeface="Montserrat"/>
            </a:endParaRPr>
          </a:p>
        </p:txBody>
      </p:sp>
      <p:sp>
        <p:nvSpPr>
          <p:cNvPr id="173" name="Google Shape;173;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39725" lvl="0" marL="457200" rtl="0" algn="l">
              <a:spcBef>
                <a:spcPts val="1100"/>
              </a:spcBef>
              <a:spcAft>
                <a:spcPts val="0"/>
              </a:spcAft>
              <a:buClr>
                <a:srgbClr val="9E9E9E"/>
              </a:buClr>
              <a:buSzPts val="1750"/>
              <a:buFont typeface="Montserrat"/>
              <a:buAutoNum type="arabicPeriod"/>
            </a:pPr>
            <a:r>
              <a:rPr lang="en" sz="1750">
                <a:solidFill>
                  <a:srgbClr val="9E9E9E"/>
                </a:solidFill>
                <a:latin typeface="Montserrat"/>
                <a:ea typeface="Montserrat"/>
                <a:cs typeface="Montserrat"/>
                <a:sym typeface="Montserrat"/>
              </a:rPr>
              <a:t>Incorporate supplementary datasets (e.g., traffic flow data, law enforcement activity) to enrich the analysis and improve model precision.</a:t>
            </a:r>
            <a:endParaRPr sz="1750">
              <a:solidFill>
                <a:srgbClr val="9E9E9E"/>
              </a:solidFill>
              <a:latin typeface="Montserrat"/>
              <a:ea typeface="Montserrat"/>
              <a:cs typeface="Montserrat"/>
              <a:sym typeface="Montserrat"/>
            </a:endParaRPr>
          </a:p>
          <a:p>
            <a:pPr indent="-339725" lvl="0" marL="457200" rtl="0" algn="l">
              <a:spcBef>
                <a:spcPts val="0"/>
              </a:spcBef>
              <a:spcAft>
                <a:spcPts val="0"/>
              </a:spcAft>
              <a:buClr>
                <a:srgbClr val="9E9E9E"/>
              </a:buClr>
              <a:buSzPts val="1750"/>
              <a:buFont typeface="Montserrat"/>
              <a:buAutoNum type="arabicPeriod"/>
            </a:pPr>
            <a:r>
              <a:rPr lang="en" sz="1750">
                <a:solidFill>
                  <a:srgbClr val="9E9E9E"/>
                </a:solidFill>
                <a:latin typeface="Montserrat"/>
                <a:ea typeface="Montserrat"/>
                <a:cs typeface="Montserrat"/>
                <a:sym typeface="Montserrat"/>
              </a:rPr>
              <a:t>Investigate more sophisticated modeling techniques (e.g., ensemble learning, deep neural networks) and apply advanced feature engineering to boost prediction performance, particularly for underrepresented injury classes.</a:t>
            </a:r>
            <a:endParaRPr sz="1750">
              <a:solidFill>
                <a:srgbClr val="9E9E9E"/>
              </a:solidFill>
              <a:latin typeface="Montserrat"/>
              <a:ea typeface="Montserrat"/>
              <a:cs typeface="Montserrat"/>
              <a:sym typeface="Montserrat"/>
            </a:endParaRPr>
          </a:p>
          <a:p>
            <a:pPr indent="-339725" lvl="0" marL="457200" rtl="0" algn="l">
              <a:spcBef>
                <a:spcPts val="0"/>
              </a:spcBef>
              <a:spcAft>
                <a:spcPts val="0"/>
              </a:spcAft>
              <a:buClr>
                <a:srgbClr val="9E9E9E"/>
              </a:buClr>
              <a:buSzPts val="1750"/>
              <a:buFont typeface="Montserrat"/>
              <a:buAutoNum type="arabicPeriod"/>
            </a:pPr>
            <a:r>
              <a:rPr lang="en" sz="1750">
                <a:solidFill>
                  <a:srgbClr val="9E9E9E"/>
                </a:solidFill>
                <a:latin typeface="Montserrat"/>
                <a:ea typeface="Montserrat"/>
                <a:cs typeface="Montserrat"/>
                <a:sym typeface="Montserrat"/>
              </a:rPr>
              <a:t>Design and implement interactive dashboards for dynamic visualization and tracking of crash patterns, risk indicators, and model predictions to aid data-driven decision-making by relevant authorities.</a:t>
            </a:r>
            <a:endParaRPr sz="1750">
              <a:solidFill>
                <a:srgbClr val="9E9E9E"/>
              </a:solidFill>
              <a:latin typeface="Montserrat"/>
              <a:ea typeface="Montserrat"/>
              <a:cs typeface="Montserrat"/>
              <a:sym typeface="Montserrat"/>
            </a:endParaRPr>
          </a:p>
          <a:p>
            <a:pPr indent="0" lvl="0" marL="0" rtl="0" algn="l">
              <a:spcBef>
                <a:spcPts val="5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9" name="Google Shape;179;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0" name="Google Shape;180;p31"/>
          <p:cNvPicPr preferRelativeResize="0"/>
          <p:nvPr/>
        </p:nvPicPr>
        <p:blipFill rotWithShape="1">
          <a:blip r:embed="rId3">
            <a:alphaModFix/>
          </a:blip>
          <a:srcRect b="0" l="0" r="0" t="0"/>
          <a:stretch/>
        </p:blipFill>
        <p:spPr>
          <a:xfrm>
            <a:off x="2605199" y="1229984"/>
            <a:ext cx="3933595" cy="268353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